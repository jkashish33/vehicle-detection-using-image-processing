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D7C73B-038B-49C3-AA97-D1DF3C4A768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59F1F4-447D-4CA8-86CE-8362BFE2F3C4}">
      <dgm:prSet/>
      <dgm:spPr/>
      <dgm:t>
        <a:bodyPr/>
        <a:lstStyle/>
        <a:p>
          <a:r>
            <a:rPr lang="en-US" b="1"/>
            <a:t>Key Iterations:</a:t>
          </a:r>
          <a:endParaRPr lang="en-US"/>
        </a:p>
      </dgm:t>
    </dgm:pt>
    <dgm:pt modelId="{679CA3D0-10A7-4E45-9E20-5402DC2BAEE5}" type="parTrans" cxnId="{EF95D431-6885-448D-B55D-4E827A09DD99}">
      <dgm:prSet/>
      <dgm:spPr/>
      <dgm:t>
        <a:bodyPr/>
        <a:lstStyle/>
        <a:p>
          <a:endParaRPr lang="en-US"/>
        </a:p>
      </dgm:t>
    </dgm:pt>
    <dgm:pt modelId="{F524E67F-C797-4450-8BE7-78560B72D1B1}" type="sibTrans" cxnId="{EF95D431-6885-448D-B55D-4E827A09DD99}">
      <dgm:prSet/>
      <dgm:spPr/>
      <dgm:t>
        <a:bodyPr/>
        <a:lstStyle/>
        <a:p>
          <a:endParaRPr lang="en-US"/>
        </a:p>
      </dgm:t>
    </dgm:pt>
    <dgm:pt modelId="{8CA77A3D-4707-4712-ABB8-A9938D23D36C}">
      <dgm:prSet/>
      <dgm:spPr/>
      <dgm:t>
        <a:bodyPr/>
        <a:lstStyle/>
        <a:p>
          <a:r>
            <a:rPr lang="en-US" b="1"/>
            <a:t>Baseline:</a:t>
          </a:r>
          <a:r>
            <a:rPr lang="en-US"/>
            <a:t> Haar Cascade for CPU-only prototype.</a:t>
          </a:r>
        </a:p>
      </dgm:t>
    </dgm:pt>
    <dgm:pt modelId="{8D9199C6-6DBD-48F5-ADD1-A5F692285478}" type="parTrans" cxnId="{F8DECBEC-1B72-4B04-9103-694E31368877}">
      <dgm:prSet/>
      <dgm:spPr/>
      <dgm:t>
        <a:bodyPr/>
        <a:lstStyle/>
        <a:p>
          <a:endParaRPr lang="en-US"/>
        </a:p>
      </dgm:t>
    </dgm:pt>
    <dgm:pt modelId="{E6243B24-C786-4504-A856-5366EB1C1E7A}" type="sibTrans" cxnId="{F8DECBEC-1B72-4B04-9103-694E31368877}">
      <dgm:prSet/>
      <dgm:spPr/>
      <dgm:t>
        <a:bodyPr/>
        <a:lstStyle/>
        <a:p>
          <a:endParaRPr lang="en-US"/>
        </a:p>
      </dgm:t>
    </dgm:pt>
    <dgm:pt modelId="{6EA29194-4EA3-4A32-A8A7-E5E677D2EE06}">
      <dgm:prSet/>
      <dgm:spPr/>
      <dgm:t>
        <a:bodyPr/>
        <a:lstStyle/>
        <a:p>
          <a:r>
            <a:rPr lang="en-US" b="1"/>
            <a:t>Upgrade:</a:t>
          </a:r>
          <a:r>
            <a:rPr lang="en-US"/>
            <a:t> CNN model integration for better precision.</a:t>
          </a:r>
        </a:p>
      </dgm:t>
    </dgm:pt>
    <dgm:pt modelId="{84345FD9-9521-4EEA-8042-12023E5E505C}" type="parTrans" cxnId="{FD482CA9-9103-4947-A33E-456C565F3448}">
      <dgm:prSet/>
      <dgm:spPr/>
      <dgm:t>
        <a:bodyPr/>
        <a:lstStyle/>
        <a:p>
          <a:endParaRPr lang="en-US"/>
        </a:p>
      </dgm:t>
    </dgm:pt>
    <dgm:pt modelId="{11E0904D-EA46-42D3-BAD0-2942747189CF}" type="sibTrans" cxnId="{FD482CA9-9103-4947-A33E-456C565F3448}">
      <dgm:prSet/>
      <dgm:spPr/>
      <dgm:t>
        <a:bodyPr/>
        <a:lstStyle/>
        <a:p>
          <a:endParaRPr lang="en-US"/>
        </a:p>
      </dgm:t>
    </dgm:pt>
    <dgm:pt modelId="{19D7D8C0-DCC9-478E-B70B-8FC30C538DA2}">
      <dgm:prSet/>
      <dgm:spPr/>
      <dgm:t>
        <a:bodyPr/>
        <a:lstStyle/>
        <a:p>
          <a:r>
            <a:rPr lang="en-US" b="1"/>
            <a:t>Full Stack Integration:</a:t>
          </a:r>
          <a:r>
            <a:rPr lang="en-US"/>
            <a:t> Flask REST API + Angular frontend.</a:t>
          </a:r>
        </a:p>
      </dgm:t>
    </dgm:pt>
    <dgm:pt modelId="{2BFDF8AB-05EA-4215-A925-8BFEF98676E2}" type="parTrans" cxnId="{AC68B10C-FFE0-4DF8-AB78-F262DF090982}">
      <dgm:prSet/>
      <dgm:spPr/>
      <dgm:t>
        <a:bodyPr/>
        <a:lstStyle/>
        <a:p>
          <a:endParaRPr lang="en-US"/>
        </a:p>
      </dgm:t>
    </dgm:pt>
    <dgm:pt modelId="{B8FCE33C-9D07-42A9-944A-8F8C8445D246}" type="sibTrans" cxnId="{AC68B10C-FFE0-4DF8-AB78-F262DF090982}">
      <dgm:prSet/>
      <dgm:spPr/>
      <dgm:t>
        <a:bodyPr/>
        <a:lstStyle/>
        <a:p>
          <a:endParaRPr lang="en-US"/>
        </a:p>
      </dgm:t>
    </dgm:pt>
    <dgm:pt modelId="{C061BEE9-89FC-4B5D-9C2E-22D06324D1CD}">
      <dgm:prSet/>
      <dgm:spPr/>
      <dgm:t>
        <a:bodyPr/>
        <a:lstStyle/>
        <a:p>
          <a:r>
            <a:rPr lang="en-US" b="1"/>
            <a:t>Evaluation:</a:t>
          </a:r>
          <a:r>
            <a:rPr lang="en-US"/>
            <a:t> Added test cases TC1–TC6 (API, UI, performance).</a:t>
          </a:r>
        </a:p>
      </dgm:t>
    </dgm:pt>
    <dgm:pt modelId="{017C2A35-7926-45DD-9580-935A565B68B4}" type="parTrans" cxnId="{4E6D5B2E-4AB7-4C8C-BB24-EFCB4D4D7059}">
      <dgm:prSet/>
      <dgm:spPr/>
      <dgm:t>
        <a:bodyPr/>
        <a:lstStyle/>
        <a:p>
          <a:endParaRPr lang="en-US"/>
        </a:p>
      </dgm:t>
    </dgm:pt>
    <dgm:pt modelId="{62E35117-1080-4887-A706-D61979D6F9E1}" type="sibTrans" cxnId="{4E6D5B2E-4AB7-4C8C-BB24-EFCB4D4D7059}">
      <dgm:prSet/>
      <dgm:spPr/>
      <dgm:t>
        <a:bodyPr/>
        <a:lstStyle/>
        <a:p>
          <a:endParaRPr lang="en-US"/>
        </a:p>
      </dgm:t>
    </dgm:pt>
    <dgm:pt modelId="{8E7AC3BE-FCD3-4A99-B375-F8D575B5C48C}">
      <dgm:prSet/>
      <dgm:spPr/>
      <dgm:t>
        <a:bodyPr/>
        <a:lstStyle/>
        <a:p>
          <a:r>
            <a:rPr lang="en-US" b="1"/>
            <a:t>Performance benchmarks:</a:t>
          </a:r>
          <a:endParaRPr lang="en-US"/>
        </a:p>
      </dgm:t>
    </dgm:pt>
    <dgm:pt modelId="{E95E2DB2-82CA-4EFB-BF3E-5FEC4451D8E1}" type="parTrans" cxnId="{5B070036-8364-46E5-A68B-3B830C1F100E}">
      <dgm:prSet/>
      <dgm:spPr/>
      <dgm:t>
        <a:bodyPr/>
        <a:lstStyle/>
        <a:p>
          <a:endParaRPr lang="en-US"/>
        </a:p>
      </dgm:t>
    </dgm:pt>
    <dgm:pt modelId="{68BF0612-A12B-437E-9B38-63C014AFF237}" type="sibTrans" cxnId="{5B070036-8364-46E5-A68B-3B830C1F100E}">
      <dgm:prSet/>
      <dgm:spPr/>
      <dgm:t>
        <a:bodyPr/>
        <a:lstStyle/>
        <a:p>
          <a:endParaRPr lang="en-US"/>
        </a:p>
      </dgm:t>
    </dgm:pt>
    <dgm:pt modelId="{9B80EDC0-C571-4495-9966-045D519752BC}">
      <dgm:prSet/>
      <dgm:spPr/>
      <dgm:t>
        <a:bodyPr/>
        <a:lstStyle/>
        <a:p>
          <a:r>
            <a:rPr lang="en-US" b="1"/>
            <a:t>Haar</a:t>
          </a:r>
          <a:r>
            <a:rPr lang="en-US"/>
            <a:t>: 1-min 720p video ≤ 2 min CPU</a:t>
          </a:r>
        </a:p>
      </dgm:t>
    </dgm:pt>
    <dgm:pt modelId="{8172043F-CF13-4966-AAC6-230AC47778CA}" type="parTrans" cxnId="{8588F224-BEF3-49FB-A42E-AEDEC04BC641}">
      <dgm:prSet/>
      <dgm:spPr/>
      <dgm:t>
        <a:bodyPr/>
        <a:lstStyle/>
        <a:p>
          <a:endParaRPr lang="en-US"/>
        </a:p>
      </dgm:t>
    </dgm:pt>
    <dgm:pt modelId="{3E0D021A-427A-4ABA-B795-7AF009F19DD5}" type="sibTrans" cxnId="{8588F224-BEF3-49FB-A42E-AEDEC04BC641}">
      <dgm:prSet/>
      <dgm:spPr/>
      <dgm:t>
        <a:bodyPr/>
        <a:lstStyle/>
        <a:p>
          <a:endParaRPr lang="en-US"/>
        </a:p>
      </dgm:t>
    </dgm:pt>
    <dgm:pt modelId="{4FD9AF89-C1D9-4857-86BC-C58998E5CA53}">
      <dgm:prSet/>
      <dgm:spPr/>
      <dgm:t>
        <a:bodyPr/>
        <a:lstStyle/>
        <a:p>
          <a:r>
            <a:rPr lang="en-US" b="1"/>
            <a:t>CNN</a:t>
          </a:r>
          <a:r>
            <a:rPr lang="en-US"/>
            <a:t>: slower but improved robustness</a:t>
          </a:r>
        </a:p>
      </dgm:t>
    </dgm:pt>
    <dgm:pt modelId="{5B612893-7E58-4789-BF9C-C992804DDC39}" type="parTrans" cxnId="{E81A1CB2-4C9C-4155-98A2-EDBA39048FFF}">
      <dgm:prSet/>
      <dgm:spPr/>
      <dgm:t>
        <a:bodyPr/>
        <a:lstStyle/>
        <a:p>
          <a:endParaRPr lang="en-US"/>
        </a:p>
      </dgm:t>
    </dgm:pt>
    <dgm:pt modelId="{1FBE18E7-2996-4C02-B517-F8971E0527F8}" type="sibTrans" cxnId="{E81A1CB2-4C9C-4155-98A2-EDBA39048FFF}">
      <dgm:prSet/>
      <dgm:spPr/>
      <dgm:t>
        <a:bodyPr/>
        <a:lstStyle/>
        <a:p>
          <a:endParaRPr lang="en-US"/>
        </a:p>
      </dgm:t>
    </dgm:pt>
    <dgm:pt modelId="{A5AEBE4D-CEA2-483C-B00A-C94FD215AE77}">
      <dgm:prSet/>
      <dgm:spPr/>
      <dgm:t>
        <a:bodyPr/>
        <a:lstStyle/>
        <a:p>
          <a:r>
            <a:rPr lang="en-US" b="1"/>
            <a:t>OCR</a:t>
          </a:r>
          <a:r>
            <a:rPr lang="en-US"/>
            <a:t>: ~70 % accuracy under normal lighting</a:t>
          </a:r>
        </a:p>
      </dgm:t>
    </dgm:pt>
    <dgm:pt modelId="{ECE38C86-B584-4AFC-8E39-23FBE1788451}" type="parTrans" cxnId="{FF8E0C7C-3FD7-4311-972D-A6495A54E2FA}">
      <dgm:prSet/>
      <dgm:spPr/>
      <dgm:t>
        <a:bodyPr/>
        <a:lstStyle/>
        <a:p>
          <a:endParaRPr lang="en-US"/>
        </a:p>
      </dgm:t>
    </dgm:pt>
    <dgm:pt modelId="{BE9A55BA-A2FA-4052-ADAF-AFC3E7A61C8A}" type="sibTrans" cxnId="{FF8E0C7C-3FD7-4311-972D-A6495A54E2FA}">
      <dgm:prSet/>
      <dgm:spPr/>
      <dgm:t>
        <a:bodyPr/>
        <a:lstStyle/>
        <a:p>
          <a:endParaRPr lang="en-US"/>
        </a:p>
      </dgm:t>
    </dgm:pt>
    <dgm:pt modelId="{16ECA024-2ADE-4633-B302-9BE0B9088CBF}" type="pres">
      <dgm:prSet presAssocID="{7CD7C73B-038B-49C3-AA97-D1DF3C4A7689}" presName="Name0" presStyleCnt="0">
        <dgm:presLayoutVars>
          <dgm:dir/>
          <dgm:animLvl val="lvl"/>
          <dgm:resizeHandles val="exact"/>
        </dgm:presLayoutVars>
      </dgm:prSet>
      <dgm:spPr/>
    </dgm:pt>
    <dgm:pt modelId="{3AB55491-1F67-470E-8CAE-DCA2D5C7959B}" type="pres">
      <dgm:prSet presAssocID="{7859F1F4-447D-4CA8-86CE-8362BFE2F3C4}" presName="linNode" presStyleCnt="0"/>
      <dgm:spPr/>
    </dgm:pt>
    <dgm:pt modelId="{D823CB7C-CABF-4FD4-94B0-EE4B87A268CF}" type="pres">
      <dgm:prSet presAssocID="{7859F1F4-447D-4CA8-86CE-8362BFE2F3C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D41A469-D8A1-4D26-99FF-060D5A51928B}" type="pres">
      <dgm:prSet presAssocID="{7859F1F4-447D-4CA8-86CE-8362BFE2F3C4}" presName="descendantText" presStyleLbl="alignAccFollowNode1" presStyleIdx="0" presStyleCnt="2">
        <dgm:presLayoutVars>
          <dgm:bulletEnabled val="1"/>
        </dgm:presLayoutVars>
      </dgm:prSet>
      <dgm:spPr/>
    </dgm:pt>
    <dgm:pt modelId="{61F18DE8-9DF4-4E1F-9458-FD5736748992}" type="pres">
      <dgm:prSet presAssocID="{F524E67F-C797-4450-8BE7-78560B72D1B1}" presName="sp" presStyleCnt="0"/>
      <dgm:spPr/>
    </dgm:pt>
    <dgm:pt modelId="{84886B65-E4DD-4292-829A-3ABAF8204EEF}" type="pres">
      <dgm:prSet presAssocID="{8E7AC3BE-FCD3-4A99-B375-F8D575B5C48C}" presName="linNode" presStyleCnt="0"/>
      <dgm:spPr/>
    </dgm:pt>
    <dgm:pt modelId="{922C37CF-D976-4274-BEE0-6DEE9DA344DB}" type="pres">
      <dgm:prSet presAssocID="{8E7AC3BE-FCD3-4A99-B375-F8D575B5C48C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A21920C-C43F-4990-B504-3BD6935D3ADA}" type="pres">
      <dgm:prSet presAssocID="{8E7AC3BE-FCD3-4A99-B375-F8D575B5C48C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C68B10C-FFE0-4DF8-AB78-F262DF090982}" srcId="{7859F1F4-447D-4CA8-86CE-8362BFE2F3C4}" destId="{19D7D8C0-DCC9-478E-B70B-8FC30C538DA2}" srcOrd="2" destOrd="0" parTransId="{2BFDF8AB-05EA-4215-A925-8BFEF98676E2}" sibTransId="{B8FCE33C-9D07-42A9-944A-8F8C8445D246}"/>
    <dgm:cxn modelId="{47A63D17-A3DA-4E49-BF5D-A078F7F0715A}" type="presOf" srcId="{9B80EDC0-C571-4495-9966-045D519752BC}" destId="{CA21920C-C43F-4990-B504-3BD6935D3ADA}" srcOrd="0" destOrd="0" presId="urn:microsoft.com/office/officeart/2005/8/layout/vList5"/>
    <dgm:cxn modelId="{843EDF19-85F6-4E83-B5BE-3779652F9981}" type="presOf" srcId="{6EA29194-4EA3-4A32-A8A7-E5E677D2EE06}" destId="{4D41A469-D8A1-4D26-99FF-060D5A51928B}" srcOrd="0" destOrd="1" presId="urn:microsoft.com/office/officeart/2005/8/layout/vList5"/>
    <dgm:cxn modelId="{FBA1061E-9EF5-4C9C-8225-4CF8CF4EC6D8}" type="presOf" srcId="{19D7D8C0-DCC9-478E-B70B-8FC30C538DA2}" destId="{4D41A469-D8A1-4D26-99FF-060D5A51928B}" srcOrd="0" destOrd="2" presId="urn:microsoft.com/office/officeart/2005/8/layout/vList5"/>
    <dgm:cxn modelId="{8588F224-BEF3-49FB-A42E-AEDEC04BC641}" srcId="{8E7AC3BE-FCD3-4A99-B375-F8D575B5C48C}" destId="{9B80EDC0-C571-4495-9966-045D519752BC}" srcOrd="0" destOrd="0" parTransId="{8172043F-CF13-4966-AAC6-230AC47778CA}" sibTransId="{3E0D021A-427A-4ABA-B795-7AF009F19DD5}"/>
    <dgm:cxn modelId="{4E6D5B2E-4AB7-4C8C-BB24-EFCB4D4D7059}" srcId="{7859F1F4-447D-4CA8-86CE-8362BFE2F3C4}" destId="{C061BEE9-89FC-4B5D-9C2E-22D06324D1CD}" srcOrd="3" destOrd="0" parTransId="{017C2A35-7926-45DD-9580-935A565B68B4}" sibTransId="{62E35117-1080-4887-A706-D61979D6F9E1}"/>
    <dgm:cxn modelId="{BA49CE30-5334-4876-81AC-E591D2FC94FB}" type="presOf" srcId="{A5AEBE4D-CEA2-483C-B00A-C94FD215AE77}" destId="{CA21920C-C43F-4990-B504-3BD6935D3ADA}" srcOrd="0" destOrd="2" presId="urn:microsoft.com/office/officeart/2005/8/layout/vList5"/>
    <dgm:cxn modelId="{EF95D431-6885-448D-B55D-4E827A09DD99}" srcId="{7CD7C73B-038B-49C3-AA97-D1DF3C4A7689}" destId="{7859F1F4-447D-4CA8-86CE-8362BFE2F3C4}" srcOrd="0" destOrd="0" parTransId="{679CA3D0-10A7-4E45-9E20-5402DC2BAEE5}" sibTransId="{F524E67F-C797-4450-8BE7-78560B72D1B1}"/>
    <dgm:cxn modelId="{5B070036-8364-46E5-A68B-3B830C1F100E}" srcId="{7CD7C73B-038B-49C3-AA97-D1DF3C4A7689}" destId="{8E7AC3BE-FCD3-4A99-B375-F8D575B5C48C}" srcOrd="1" destOrd="0" parTransId="{E95E2DB2-82CA-4EFB-BF3E-5FEC4451D8E1}" sibTransId="{68BF0612-A12B-437E-9B38-63C014AFF237}"/>
    <dgm:cxn modelId="{4A2CD35B-F188-4355-87A8-9F4068F1FDA9}" type="presOf" srcId="{8CA77A3D-4707-4712-ABB8-A9938D23D36C}" destId="{4D41A469-D8A1-4D26-99FF-060D5A51928B}" srcOrd="0" destOrd="0" presId="urn:microsoft.com/office/officeart/2005/8/layout/vList5"/>
    <dgm:cxn modelId="{A3C9B843-4E38-4E3A-93A8-EFFBDBF5C446}" type="presOf" srcId="{C061BEE9-89FC-4B5D-9C2E-22D06324D1CD}" destId="{4D41A469-D8A1-4D26-99FF-060D5A51928B}" srcOrd="0" destOrd="3" presId="urn:microsoft.com/office/officeart/2005/8/layout/vList5"/>
    <dgm:cxn modelId="{C3EA0476-63B1-4F73-A3D9-1B9FE5A70355}" type="presOf" srcId="{7859F1F4-447D-4CA8-86CE-8362BFE2F3C4}" destId="{D823CB7C-CABF-4FD4-94B0-EE4B87A268CF}" srcOrd="0" destOrd="0" presId="urn:microsoft.com/office/officeart/2005/8/layout/vList5"/>
    <dgm:cxn modelId="{FF8E0C7C-3FD7-4311-972D-A6495A54E2FA}" srcId="{8E7AC3BE-FCD3-4A99-B375-F8D575B5C48C}" destId="{A5AEBE4D-CEA2-483C-B00A-C94FD215AE77}" srcOrd="2" destOrd="0" parTransId="{ECE38C86-B584-4AFC-8E39-23FBE1788451}" sibTransId="{BE9A55BA-A2FA-4052-ADAF-AFC3E7A61C8A}"/>
    <dgm:cxn modelId="{019DF0A2-7DB0-4833-9270-07AC760E424E}" type="presOf" srcId="{7CD7C73B-038B-49C3-AA97-D1DF3C4A7689}" destId="{16ECA024-2ADE-4633-B302-9BE0B9088CBF}" srcOrd="0" destOrd="0" presId="urn:microsoft.com/office/officeart/2005/8/layout/vList5"/>
    <dgm:cxn modelId="{FD482CA9-9103-4947-A33E-456C565F3448}" srcId="{7859F1F4-447D-4CA8-86CE-8362BFE2F3C4}" destId="{6EA29194-4EA3-4A32-A8A7-E5E677D2EE06}" srcOrd="1" destOrd="0" parTransId="{84345FD9-9521-4EEA-8042-12023E5E505C}" sibTransId="{11E0904D-EA46-42D3-BAD0-2942747189CF}"/>
    <dgm:cxn modelId="{E81A1CB2-4C9C-4155-98A2-EDBA39048FFF}" srcId="{8E7AC3BE-FCD3-4A99-B375-F8D575B5C48C}" destId="{4FD9AF89-C1D9-4857-86BC-C58998E5CA53}" srcOrd="1" destOrd="0" parTransId="{5B612893-7E58-4789-BF9C-C992804DDC39}" sibTransId="{1FBE18E7-2996-4C02-B517-F8971E0527F8}"/>
    <dgm:cxn modelId="{CA48B0B2-AD41-4F98-9D85-34E8E1CA99A6}" type="presOf" srcId="{4FD9AF89-C1D9-4857-86BC-C58998E5CA53}" destId="{CA21920C-C43F-4990-B504-3BD6935D3ADA}" srcOrd="0" destOrd="1" presId="urn:microsoft.com/office/officeart/2005/8/layout/vList5"/>
    <dgm:cxn modelId="{F8DECBEC-1B72-4B04-9103-694E31368877}" srcId="{7859F1F4-447D-4CA8-86CE-8362BFE2F3C4}" destId="{8CA77A3D-4707-4712-ABB8-A9938D23D36C}" srcOrd="0" destOrd="0" parTransId="{8D9199C6-6DBD-48F5-ADD1-A5F692285478}" sibTransId="{E6243B24-C786-4504-A856-5366EB1C1E7A}"/>
    <dgm:cxn modelId="{FA9C77ED-1B56-4884-9EA8-45E2E3156DE6}" type="presOf" srcId="{8E7AC3BE-FCD3-4A99-B375-F8D575B5C48C}" destId="{922C37CF-D976-4274-BEE0-6DEE9DA344DB}" srcOrd="0" destOrd="0" presId="urn:microsoft.com/office/officeart/2005/8/layout/vList5"/>
    <dgm:cxn modelId="{8066E760-5AE0-45D3-B827-D55FDD4C97B6}" type="presParOf" srcId="{16ECA024-2ADE-4633-B302-9BE0B9088CBF}" destId="{3AB55491-1F67-470E-8CAE-DCA2D5C7959B}" srcOrd="0" destOrd="0" presId="urn:microsoft.com/office/officeart/2005/8/layout/vList5"/>
    <dgm:cxn modelId="{47E545CD-AA10-42D8-B15E-581D0C052864}" type="presParOf" srcId="{3AB55491-1F67-470E-8CAE-DCA2D5C7959B}" destId="{D823CB7C-CABF-4FD4-94B0-EE4B87A268CF}" srcOrd="0" destOrd="0" presId="urn:microsoft.com/office/officeart/2005/8/layout/vList5"/>
    <dgm:cxn modelId="{BF42B430-E8CB-4436-9E9F-2D4A336F5F56}" type="presParOf" srcId="{3AB55491-1F67-470E-8CAE-DCA2D5C7959B}" destId="{4D41A469-D8A1-4D26-99FF-060D5A51928B}" srcOrd="1" destOrd="0" presId="urn:microsoft.com/office/officeart/2005/8/layout/vList5"/>
    <dgm:cxn modelId="{F4BB9D42-8DD5-4F47-9AD4-43F86E252F29}" type="presParOf" srcId="{16ECA024-2ADE-4633-B302-9BE0B9088CBF}" destId="{61F18DE8-9DF4-4E1F-9458-FD5736748992}" srcOrd="1" destOrd="0" presId="urn:microsoft.com/office/officeart/2005/8/layout/vList5"/>
    <dgm:cxn modelId="{5C426509-3634-4DD6-ABA2-1AB03C5E8717}" type="presParOf" srcId="{16ECA024-2ADE-4633-B302-9BE0B9088CBF}" destId="{84886B65-E4DD-4292-829A-3ABAF8204EEF}" srcOrd="2" destOrd="0" presId="urn:microsoft.com/office/officeart/2005/8/layout/vList5"/>
    <dgm:cxn modelId="{842AFDB7-8BA3-46BB-AE5F-DFF778A0A2D7}" type="presParOf" srcId="{84886B65-E4DD-4292-829A-3ABAF8204EEF}" destId="{922C37CF-D976-4274-BEE0-6DEE9DA344DB}" srcOrd="0" destOrd="0" presId="urn:microsoft.com/office/officeart/2005/8/layout/vList5"/>
    <dgm:cxn modelId="{9DE37596-AD64-4C2E-9DDE-4DFE4180820E}" type="presParOf" srcId="{84886B65-E4DD-4292-829A-3ABAF8204EEF}" destId="{CA21920C-C43F-4990-B504-3BD6935D3AD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1A469-D8A1-4D26-99FF-060D5A51928B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Baseline:</a:t>
          </a:r>
          <a:r>
            <a:rPr lang="en-US" sz="1800" kern="1200"/>
            <a:t> Haar Cascade for CPU-only prototype.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Upgrade:</a:t>
          </a:r>
          <a:r>
            <a:rPr lang="en-US" sz="1800" kern="1200"/>
            <a:t> CNN model integration for better precision.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Full Stack Integration:</a:t>
          </a:r>
          <a:r>
            <a:rPr lang="en-US" sz="1800" kern="1200"/>
            <a:t> Flask REST API + Angular frontend.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Evaluation:</a:t>
          </a:r>
          <a:r>
            <a:rPr lang="en-US" sz="1800" kern="1200"/>
            <a:t> Added test cases TC1–TC6 (API, UI, performance).</a:t>
          </a:r>
        </a:p>
      </dsp:txBody>
      <dsp:txXfrm rot="-5400000">
        <a:off x="3785616" y="295201"/>
        <a:ext cx="6647092" cy="1532257"/>
      </dsp:txXfrm>
    </dsp:sp>
    <dsp:sp modelId="{D823CB7C-CABF-4FD4-94B0-EE4B87A268CF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Key Iterations:</a:t>
          </a:r>
          <a:endParaRPr lang="en-US" sz="4000" kern="1200"/>
        </a:p>
      </dsp:txBody>
      <dsp:txXfrm>
        <a:off x="103614" y="103667"/>
        <a:ext cx="3578388" cy="1915324"/>
      </dsp:txXfrm>
    </dsp:sp>
    <dsp:sp modelId="{CA21920C-C43F-4990-B504-3BD6935D3ADA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Haar</a:t>
          </a:r>
          <a:r>
            <a:rPr lang="en-US" sz="1800" kern="1200"/>
            <a:t>: 1-min 720p video ≤ 2 min CPU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CNN</a:t>
          </a:r>
          <a:r>
            <a:rPr lang="en-US" sz="1800" kern="1200"/>
            <a:t>: slower but improved robustness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OCR</a:t>
          </a:r>
          <a:r>
            <a:rPr lang="en-US" sz="1800" kern="1200"/>
            <a:t>: ~70 % accuracy under normal lighting</a:t>
          </a:r>
        </a:p>
      </dsp:txBody>
      <dsp:txXfrm rot="-5400000">
        <a:off x="3785616" y="2523880"/>
        <a:ext cx="6647092" cy="1532257"/>
      </dsp:txXfrm>
    </dsp:sp>
    <dsp:sp modelId="{922C37CF-D976-4274-BEE0-6DEE9DA344DB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Performance benchmarks:</a:t>
          </a:r>
          <a:endParaRPr lang="en-US" sz="4000" kern="1200"/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CA889-2F59-E1BF-6A63-342CC8574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03DB9-D9DF-40A4-E2D6-C64718446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CFECA-ECD8-E730-4869-368564B5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4377C-BCE1-9D6D-E0BF-1DCB4CE7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5D904-7414-655B-8112-CA77B25D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3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F7B1-7F20-1151-945A-24B9FF11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D89B-7221-28A1-9B41-99E43597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51DE6-231A-5258-3961-125538DF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608A3-E41F-4FF5-85EA-5DABC76A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71F6-1F76-32D1-41EF-6CABA012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6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6FFB-1F80-579D-1B8F-A7525E7D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ABC06-C496-EFDE-978C-D0001D5CE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C454B-FCEF-F285-752A-E72330A8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78F7A-382A-628A-DB42-F50CEC17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70D79-8D7B-4920-B226-2AF90F15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2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DA8E-6BE9-58C2-AC49-45E40CFF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8CF60-11D4-59AA-208F-9EB404A6A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D24E0-DB6C-C677-529F-26D07C12A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F5E9-EA3B-EB13-AC0B-29CEB085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204AA-7FA6-2E2F-06BF-B50B7FA1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D297D-E026-E8C3-8389-9A9AFDFB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18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EC2E-02DA-B140-17DF-3D2051AE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337AD-AD0C-2FEE-A058-61F9F70DC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B4C9B-008B-0FA4-3B97-881DE3B6D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F6F16-0978-9C20-742E-BB487DA69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B80BE-DC4C-82DC-D691-420C99BD3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537E9-F513-B96F-A66D-E3516884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A0ABA-A304-0E06-9B64-8798EC51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D2704-1B9B-3923-88B5-C3F0B334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8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53D72-469B-1FD8-2C79-95BA1E01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79277-62CC-A66B-1952-9ACFD8C1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3BF13-6F2F-8D84-BB32-37907B94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4B4B6-B152-9ACA-708A-DE4EC874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1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45556-4441-472D-3721-A34EE734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8E4AC-9E38-1E29-341D-F382AB76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940A6-97BF-D217-F9ED-71BA639C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7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2D91-E852-35A2-F060-D8B5DE4CA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6564-27B1-8DCA-D337-EE27E478C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33DDF-FA13-2095-F811-DFD9493A6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7E46E-B9CB-B62B-1338-A4E3D422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98892-6445-AA08-4C73-686CBC58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DC4EB-63D1-0BE7-A21E-DF84C537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18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F4B4-C96F-6814-D6B9-E21C1A75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9AC3C-F912-283A-D566-86226AD26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5DD05-878C-A6C7-48D0-282F99218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C27DE-005B-F683-316E-B7084CAB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1B77D-0D97-4735-C979-98B1C94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4A9E6-89A5-27DF-02CA-473742F1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4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E297-C2F1-4461-6291-745FE609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61581-70CF-5B96-257F-5C2EE3EF6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3CA7-3389-F570-18F0-2C1FF5C3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EB6E7-8196-F49F-6B36-5FB30EC07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8490C-08F6-8047-BDEA-5972DF10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9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E91B4-BD31-F9E8-84B2-92708B20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529B3-F88F-5DD4-CCED-843FC1D34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2C432-A69C-663E-6666-61E2FD6A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6D743-31C1-1B09-0B93-E6AE20D6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CA52C-8997-8FD0-A4BB-8ED76B1E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07DBDC-DE38-3F2C-EF77-B57C384CC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549B6-7373-688B-7965-70AF67457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DF08-C4C3-4A8E-5442-5B245AA6F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EA57F-793F-4683-BD8A-741FD4B89154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98307-83B9-8E42-192E-F2AD58F86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30358-BE18-E150-4D5A-17251DA9C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60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C0130AA0-5292-6E96-FDDA-14102F4EC1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634" r="-1" b="1075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778806-4767-9366-45F1-A9450F261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Vehicle Detection Using Image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731B4-E73C-B262-5624-E4A7489C9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Presenter: Kashish Jain</a:t>
            </a:r>
          </a:p>
          <a:p>
            <a:r>
              <a:rPr lang="en-US">
                <a:solidFill>
                  <a:schemeClr val="bg1"/>
                </a:solidFill>
              </a:rPr>
              <a:t>Course: GRAD-695 Applied Project</a:t>
            </a:r>
          </a:p>
        </p:txBody>
      </p:sp>
      <p:sp>
        <p:nvSpPr>
          <p:cNvPr id="11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9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2EB3F-8DA0-5C54-3B8F-D72298FD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Problem Statement &amp; Motivation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35F8C6D-F0DA-E870-B9FF-89F2E464B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700" b="1">
                <a:solidFill>
                  <a:schemeClr val="tx2"/>
                </a:solidFill>
              </a:rPr>
              <a:t>Problem</a:t>
            </a:r>
            <a:r>
              <a:rPr lang="en-US" sz="1700">
                <a:solidFill>
                  <a:schemeClr val="tx2"/>
                </a:solidFill>
              </a:rPr>
              <a:t>: Manual vehicle detection from images/videos is slow, inconsistent, and not scalable.</a:t>
            </a:r>
            <a:br>
              <a:rPr lang="en-US" sz="1700">
                <a:solidFill>
                  <a:schemeClr val="tx2"/>
                </a:solidFill>
              </a:rPr>
            </a:br>
            <a:r>
              <a:rPr lang="en-US" sz="1700">
                <a:solidFill>
                  <a:schemeClr val="tx2"/>
                </a:solidFill>
              </a:rPr>
              <a:t>There is a need for an </a:t>
            </a:r>
            <a:r>
              <a:rPr lang="en-US" sz="1700" b="1">
                <a:solidFill>
                  <a:schemeClr val="tx2"/>
                </a:solidFill>
              </a:rPr>
              <a:t>automated, educational, and modular prototype</a:t>
            </a:r>
            <a:r>
              <a:rPr lang="en-US" sz="1700">
                <a:solidFill>
                  <a:schemeClr val="tx2"/>
                </a:solidFill>
              </a:rPr>
              <a:t> to test and compare object-detection models.</a:t>
            </a:r>
          </a:p>
          <a:p>
            <a:r>
              <a:rPr lang="en-US" sz="1700" b="1">
                <a:solidFill>
                  <a:schemeClr val="tx2"/>
                </a:solidFill>
              </a:rPr>
              <a:t>Why it matters:</a:t>
            </a:r>
            <a:endParaRPr lang="en-US" sz="1700">
              <a:solidFill>
                <a:schemeClr val="tx2"/>
              </a:solidFill>
            </a:endParaRPr>
          </a:p>
          <a:p>
            <a:pPr lvl="1"/>
            <a:r>
              <a:rPr lang="en-US" sz="1700">
                <a:solidFill>
                  <a:schemeClr val="tx2"/>
                </a:solidFill>
              </a:rPr>
              <a:t>Real-world relevance for traffic, surveillance, and smart mobility research.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Demonstrates </a:t>
            </a:r>
            <a:r>
              <a:rPr lang="en-US" sz="1700" b="1">
                <a:solidFill>
                  <a:schemeClr val="tx2"/>
                </a:solidFill>
              </a:rPr>
              <a:t>AI integration in full-stack systems</a:t>
            </a:r>
            <a:r>
              <a:rPr lang="en-US" sz="1700">
                <a:solidFill>
                  <a:schemeClr val="tx2"/>
                </a:solidFill>
              </a:rPr>
              <a:t> (Flask + Angular).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Bridges classical computer vision and deep learning approaches.</a:t>
            </a:r>
          </a:p>
          <a:p>
            <a:endParaRPr lang="en-US" sz="1700">
              <a:solidFill>
                <a:schemeClr val="tx2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Graphic 9" descr="Video camera">
            <a:extLst>
              <a:ext uri="{FF2B5EF4-FFF2-40B4-BE49-F238E27FC236}">
                <a16:creationId xmlns:a16="http://schemas.microsoft.com/office/drawing/2014/main" id="{CBCC4DF2-CD72-6187-1F12-B46E4A8FA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9B70-C082-7C00-2391-F9BC770D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0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6952-3024-38A4-8648-59FB68CB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Method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E72A4-8790-FAAA-4F6A-B5F923041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Input:</a:t>
            </a:r>
            <a:r>
              <a:rPr lang="en-US" dirty="0"/>
              <a:t> Images/videos or live feeds</a:t>
            </a:r>
          </a:p>
          <a:p>
            <a:r>
              <a:rPr lang="en-US" b="1" dirty="0"/>
              <a:t>Output:</a:t>
            </a:r>
            <a:r>
              <a:rPr lang="en-US" dirty="0"/>
              <a:t> Annotated frames with bounding boxes and detected plates</a:t>
            </a:r>
          </a:p>
          <a:p>
            <a:r>
              <a:rPr lang="en-US" b="1" dirty="0"/>
              <a:t>Datasets:</a:t>
            </a:r>
            <a:r>
              <a:rPr lang="en-US" dirty="0"/>
              <a:t> COCO 2017 for evaluation and testing.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E653D-5481-1ED1-23C8-EF330800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8F3E67-F0A4-1696-BB70-1813E3513703}"/>
              </a:ext>
            </a:extLst>
          </p:cNvPr>
          <p:cNvSpPr/>
          <p:nvPr/>
        </p:nvSpPr>
        <p:spPr>
          <a:xfrm>
            <a:off x="1047135" y="3569110"/>
            <a:ext cx="1755059" cy="79641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Upload (Frontend)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9A08F4-BE86-68E5-6604-23AA6997A16F}"/>
              </a:ext>
            </a:extLst>
          </p:cNvPr>
          <p:cNvSpPr/>
          <p:nvPr/>
        </p:nvSpPr>
        <p:spPr>
          <a:xfrm>
            <a:off x="6096000" y="4962729"/>
            <a:ext cx="1755059" cy="79641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Download Results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4C1E0B-B5AF-2B40-9AF7-F7DC468625F5}"/>
              </a:ext>
            </a:extLst>
          </p:cNvPr>
          <p:cNvSpPr/>
          <p:nvPr/>
        </p:nvSpPr>
        <p:spPr>
          <a:xfrm>
            <a:off x="8716296" y="4962729"/>
            <a:ext cx="1755059" cy="79641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Storage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86921F-A4BB-3CD4-E346-F0D69CE13762}"/>
              </a:ext>
            </a:extLst>
          </p:cNvPr>
          <p:cNvSpPr/>
          <p:nvPr/>
        </p:nvSpPr>
        <p:spPr>
          <a:xfrm>
            <a:off x="8512278" y="3578943"/>
            <a:ext cx="1959077" cy="79641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Detection + OCR (OpenCV)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13E84C-BE9B-3FBA-22FF-939CD3013759}"/>
              </a:ext>
            </a:extLst>
          </p:cNvPr>
          <p:cNvSpPr/>
          <p:nvPr/>
        </p:nvSpPr>
        <p:spPr>
          <a:xfrm>
            <a:off x="5978013" y="3569110"/>
            <a:ext cx="1755059" cy="79641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Model Selection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651847-C2B6-5D7C-3E11-76B11CC2D223}"/>
              </a:ext>
            </a:extLst>
          </p:cNvPr>
          <p:cNvSpPr/>
          <p:nvPr/>
        </p:nvSpPr>
        <p:spPr>
          <a:xfrm>
            <a:off x="3581400" y="3578943"/>
            <a:ext cx="1755059" cy="79641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Flask API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9BAD30-03B5-B417-D703-1EF03F731308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802194" y="3967317"/>
            <a:ext cx="779206" cy="9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570052-4C2B-85C5-0EAF-48FA73DA7952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 flipV="1">
            <a:off x="5336459" y="3967317"/>
            <a:ext cx="641554" cy="9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9ECAF2-1F81-C328-1F3C-01662DD8ACB2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7733072" y="3967317"/>
            <a:ext cx="779206" cy="9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637137-7C6E-49C2-814D-89C756645F0A}"/>
              </a:ext>
            </a:extLst>
          </p:cNvPr>
          <p:cNvCxnSpPr>
            <a:stCxn id="10" idx="2"/>
          </p:cNvCxnSpPr>
          <p:nvPr/>
        </p:nvCxnSpPr>
        <p:spPr>
          <a:xfrm flipH="1">
            <a:off x="9491816" y="4375356"/>
            <a:ext cx="1" cy="587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993FB3-1482-D369-58CA-91FBA5733FD4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7851059" y="5360936"/>
            <a:ext cx="865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38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EBB8C-5E5E-04F2-B927-15D2008A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AI &amp; Research Tools: Choices &amp; Workflow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FBC2D-703E-C82F-94D1-E373FB93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6A101E0-F26F-8F9E-2081-D07DB4905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723883"/>
              </p:ext>
            </p:extLst>
          </p:nvPr>
        </p:nvGraphicFramePr>
        <p:xfrm>
          <a:off x="1629352" y="3017519"/>
          <a:ext cx="8928942" cy="3209904"/>
        </p:xfrm>
        <a:graphic>
          <a:graphicData uri="http://schemas.openxmlformats.org/drawingml/2006/table">
            <a:tbl>
              <a:tblPr firstRow="1" bandRow="1"/>
              <a:tblGrid>
                <a:gridCol w="2659068">
                  <a:extLst>
                    <a:ext uri="{9D8B030D-6E8A-4147-A177-3AD203B41FA5}">
                      <a16:colId xmlns:a16="http://schemas.microsoft.com/office/drawing/2014/main" val="1344722048"/>
                    </a:ext>
                  </a:extLst>
                </a:gridCol>
                <a:gridCol w="3091615">
                  <a:extLst>
                    <a:ext uri="{9D8B030D-6E8A-4147-A177-3AD203B41FA5}">
                      <a16:colId xmlns:a16="http://schemas.microsoft.com/office/drawing/2014/main" val="3379507642"/>
                    </a:ext>
                  </a:extLst>
                </a:gridCol>
                <a:gridCol w="3178259">
                  <a:extLst>
                    <a:ext uri="{9D8B030D-6E8A-4147-A177-3AD203B41FA5}">
                      <a16:colId xmlns:a16="http://schemas.microsoft.com/office/drawing/2014/main" val="3575736863"/>
                    </a:ext>
                  </a:extLst>
                </a:gridCol>
              </a:tblGrid>
              <a:tr h="35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Category</a:t>
                      </a:r>
                      <a:endParaRPr lang="en-US" sz="1600"/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Tool/Library</a:t>
                      </a:r>
                      <a:endParaRPr lang="en-US" sz="1600"/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Rationale / Trade-offs</a:t>
                      </a:r>
                      <a:endParaRPr lang="en-US" sz="1600"/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275923"/>
                  </a:ext>
                </a:extLst>
              </a:tr>
              <a:tr h="596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Backend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Flask + Flask-RESTX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Lightweight, modular API for rapid iteration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050573"/>
                  </a:ext>
                </a:extLst>
              </a:tr>
              <a:tr h="596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ML/Detection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OpenCV, PyTorch/TensorFlow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Balance between speed (Haar) and accuracy (CNN)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651737"/>
                  </a:ext>
                </a:extLst>
              </a:tr>
              <a:tr h="35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OCR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Tesseract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Open-source text extraction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367224"/>
                  </a:ext>
                </a:extLst>
              </a:tr>
              <a:tr h="35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Frontend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Angular + Bootstrap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Clean upload/download UI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143599"/>
                  </a:ext>
                </a:extLst>
              </a:tr>
              <a:tr h="35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DB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SQLite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In-memory metadata tracking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88755"/>
                  </a:ext>
                </a:extLst>
              </a:tr>
              <a:tr h="596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IDE/Automation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Jupyter, VS Code, Postman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Fast prototyping and API validation</a:t>
                      </a:r>
                    </a:p>
                  </a:txBody>
                  <a:tcPr marL="80651" marR="80651" marT="40325" marB="40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734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16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432361-1255-7CCF-06D2-3C28AD2B2D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188" b="5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52CBC-50BC-AE12-439D-E3A42D07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Experiments / Engineering Milestones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3C2B4-886F-3352-80BB-9485215C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2D53A5A-F695-FE7D-407D-3EEA6F191B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1809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476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E69E3-6F36-4BF4-955E-489F9904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Obstacles &amp; Resolutions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2F52F-0526-30FD-9D71-CE092ACF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3DE0976-9413-9208-718E-F114661A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828965"/>
              </p:ext>
            </p:extLst>
          </p:nvPr>
        </p:nvGraphicFramePr>
        <p:xfrm>
          <a:off x="904602" y="3223637"/>
          <a:ext cx="10378440" cy="2797671"/>
        </p:xfrm>
        <a:graphic>
          <a:graphicData uri="http://schemas.openxmlformats.org/drawingml/2006/table">
            <a:tbl>
              <a:tblPr firstRow="1" bandRow="1"/>
              <a:tblGrid>
                <a:gridCol w="3459480">
                  <a:extLst>
                    <a:ext uri="{9D8B030D-6E8A-4147-A177-3AD203B41FA5}">
                      <a16:colId xmlns:a16="http://schemas.microsoft.com/office/drawing/2014/main" val="110824912"/>
                    </a:ext>
                  </a:extLst>
                </a:gridCol>
                <a:gridCol w="3459480">
                  <a:extLst>
                    <a:ext uri="{9D8B030D-6E8A-4147-A177-3AD203B41FA5}">
                      <a16:colId xmlns:a16="http://schemas.microsoft.com/office/drawing/2014/main" val="2115605406"/>
                    </a:ext>
                  </a:extLst>
                </a:gridCol>
                <a:gridCol w="3459480">
                  <a:extLst>
                    <a:ext uri="{9D8B030D-6E8A-4147-A177-3AD203B41FA5}">
                      <a16:colId xmlns:a16="http://schemas.microsoft.com/office/drawing/2014/main" val="3073244668"/>
                    </a:ext>
                  </a:extLst>
                </a:gridCol>
              </a:tblGrid>
              <a:tr h="397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Challenge</a:t>
                      </a:r>
                      <a:endParaRPr lang="en-US" sz="1800"/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Diagnosis</a:t>
                      </a:r>
                      <a:endParaRPr lang="en-US" sz="1800"/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Resolution</a:t>
                      </a:r>
                      <a:endParaRPr lang="en-US" sz="1800"/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595234"/>
                  </a:ext>
                </a:extLst>
              </a:tr>
              <a:tr h="66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CNN inference latency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CPU bottleneck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Downsample frames, reduced FPS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836345"/>
                  </a:ext>
                </a:extLst>
              </a:tr>
              <a:tr h="66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Unsupported file formats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Input validation missing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Added explicit checks + error handling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489555"/>
                  </a:ext>
                </a:extLst>
              </a:tr>
              <a:tr h="397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Frontend-backend sync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Payload mismatch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Swagger &amp; Postman testing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991669"/>
                  </a:ext>
                </a:extLst>
              </a:tr>
              <a:tr h="66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 weight issues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Corrupted files during testing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Re-initialized paths and checksum validation</a:t>
                      </a:r>
                    </a:p>
                  </a:txBody>
                  <a:tcPr marL="90247" marR="90247" marT="45124" marB="451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636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01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35E6A-A80D-B9B9-07E7-B94DF8D8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(Presented in executive session)</a:t>
            </a:r>
          </a:p>
        </p:txBody>
      </p:sp>
      <p:pic>
        <p:nvPicPr>
          <p:cNvPr id="10" name="Graphic 9" descr="Monitor">
            <a:extLst>
              <a:ext uri="{FF2B5EF4-FFF2-40B4-BE49-F238E27FC236}">
                <a16:creationId xmlns:a16="http://schemas.microsoft.com/office/drawing/2014/main" id="{AD62734E-3FF0-B068-9072-DE3D3F7E9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7062-42FD-D83F-0C60-9E447EA9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216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F93D4-506A-2B38-3FFF-9EEBE748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Risks, Limitations &amp; Ethics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1C69B-CDA5-3F9C-D651-12E656EC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Limitations: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No GPU acceleration (CPU-bound prototype)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Not production-ready (single-user demo)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No real-time streaming optimization yet</a:t>
            </a:r>
          </a:p>
          <a:p>
            <a:r>
              <a:rPr lang="en-US" sz="1800" b="1">
                <a:solidFill>
                  <a:schemeClr val="tx2"/>
                </a:solidFill>
              </a:rPr>
              <a:t>Ethics &amp; Compliance: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Plate-blur option for privacy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Not intended for surveillance use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Dataset licensed for academic research only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2507D-0CEC-223B-ECB9-9209BE26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8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A62F5-A36B-04BA-6C48-D8F3C591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Impact, Roadmap &amp; Next Steps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7A67D-CBB6-BEB5-BD31-E1B631B34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Impact: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Demonstrates end-to-end ML pipeline integration for education/research.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Foundation for scalable traffic analytics or smart-city prototypes.</a:t>
            </a:r>
          </a:p>
          <a:p>
            <a:r>
              <a:rPr lang="en-US" sz="1800" b="1">
                <a:solidFill>
                  <a:schemeClr val="tx2"/>
                </a:solidFill>
              </a:rPr>
              <a:t>Next Steps: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Integrate </a:t>
            </a:r>
            <a:r>
              <a:rPr lang="en-US" sz="1800" b="1">
                <a:solidFill>
                  <a:schemeClr val="tx2"/>
                </a:solidFill>
              </a:rPr>
              <a:t>YOLOv5/YOLOv8</a:t>
            </a:r>
            <a:r>
              <a:rPr lang="en-US" sz="1800">
                <a:solidFill>
                  <a:schemeClr val="tx2"/>
                </a:solidFill>
              </a:rPr>
              <a:t> for faster inference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Deploy on GPU/Cloud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Add user authentication, access control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Expand to </a:t>
            </a:r>
            <a:r>
              <a:rPr lang="en-US" sz="1800" b="1">
                <a:solidFill>
                  <a:schemeClr val="tx2"/>
                </a:solidFill>
              </a:rPr>
              <a:t>multi-camera live detection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80042-9BB9-19DB-08A8-A2D5282F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3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08055-87B9-D1C6-E294-EF1F105D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References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3332E-A088-FDA1-EA91-24F970F8C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References: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OpenCV Documentation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PyTorch/TensorFlow Libraries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COCO Dataset (2017)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Tesseract OCR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Flask &amp; Angular Framework Docs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04F03-0FA9-6A80-A3FB-6F646B9F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2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3F82CDA020CD4CAFEBE91942446BA3" ma:contentTypeVersion="11" ma:contentTypeDescription="Create a new document." ma:contentTypeScope="" ma:versionID="8ebd0615e8f14bfb71d5e2c353af0ee8">
  <xsd:schema xmlns:xsd="http://www.w3.org/2001/XMLSchema" xmlns:xs="http://www.w3.org/2001/XMLSchema" xmlns:p="http://schemas.microsoft.com/office/2006/metadata/properties" xmlns:ns3="40c02af4-eee5-4324-a3eb-a74ca8e6c762" targetNamespace="http://schemas.microsoft.com/office/2006/metadata/properties" ma:root="true" ma:fieldsID="557bee2dcedd89c7aad5d99db1311c26" ns3:_="">
    <xsd:import namespace="40c02af4-eee5-4324-a3eb-a74ca8e6c762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c02af4-eee5-4324-a3eb-a74ca8e6c76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c02af4-eee5-4324-a3eb-a74ca8e6c762" xsi:nil="true"/>
  </documentManagement>
</p:properties>
</file>

<file path=customXml/itemProps1.xml><?xml version="1.0" encoding="utf-8"?>
<ds:datastoreItem xmlns:ds="http://schemas.openxmlformats.org/officeDocument/2006/customXml" ds:itemID="{741B2437-5E21-4436-B7E7-EF502EF0FA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c02af4-eee5-4324-a3eb-a74ca8e6c7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1501D7-ACAE-4F0F-9842-18BEA88861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EFD135-353E-45FF-9E92-ECFC23E201B1}">
  <ds:schemaRefs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40c02af4-eee5-4324-a3eb-a74ca8e6c762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3337</TotalTime>
  <Words>480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Vehicle Detection Using Image Processing</vt:lpstr>
      <vt:lpstr>Problem Statement &amp; Motivation</vt:lpstr>
      <vt:lpstr>Data &amp; Method Overview</vt:lpstr>
      <vt:lpstr>AI &amp; Research Tools: Choices &amp; Workflow</vt:lpstr>
      <vt:lpstr>Experiments / Engineering Milestones</vt:lpstr>
      <vt:lpstr>Obstacles &amp; Resolutions</vt:lpstr>
      <vt:lpstr>Demo (Presented in executive session)</vt:lpstr>
      <vt:lpstr>Risks, Limitations &amp; Ethics</vt:lpstr>
      <vt:lpstr>Impact, Roadmap &amp; 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Kashish Jain</dc:creator>
  <cp:lastModifiedBy>Kashish Jain</cp:lastModifiedBy>
  <cp:revision>2</cp:revision>
  <dcterms:created xsi:type="dcterms:W3CDTF">2025-10-04T17:34:45Z</dcterms:created>
  <dcterms:modified xsi:type="dcterms:W3CDTF">2025-10-07T01:12:31Z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0x0101000D3F82CDA020CD4CAFEBE91942446BA3</vt:lpwstr>
  </property>
</Properties>
</file>